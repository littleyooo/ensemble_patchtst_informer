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9" r:id="rId3"/>
    <p:sldId id="277" r:id="rId4"/>
    <p:sldId id="280" r:id="rId5"/>
    <p:sldId id="282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2" r:id="rId14"/>
    <p:sldId id="29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D2B9"/>
    <a:srgbClr val="FF644E"/>
    <a:srgbClr val="FED981"/>
    <a:srgbClr val="FA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906" y="562"/>
      </p:cViewPr>
      <p:guideLst>
        <p:guide orient="horz" pos="212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F7DCA-1019-4268-A509-AF91E83E64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B10BE-096A-4B95-9CAF-518D2F5380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6B82C-D8A9-4E76-A0F7-CB28842D5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79516-19AB-48A3-8C4C-DC1B9D216A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上周任务</a:t>
            </a:r>
            <a:r>
              <a:rPr lang="zh-CN" altLang="en-US" sz="3200" b="1"/>
              <a:t>回顾</a:t>
            </a:r>
            <a:endParaRPr lang="zh-CN" altLang="en-US" sz="3200" b="1"/>
          </a:p>
          <a:p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、核实实验结果：把</a:t>
            </a:r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target</a:t>
            </a:r>
            <a:r>
              <a:rPr lang="zh-CN" altLang="en-US"/>
              <a:t>变量分离开，看</a:t>
            </a:r>
            <a:r>
              <a:rPr lang="en-US" altLang="zh-CN"/>
              <a:t>mse</a:t>
            </a:r>
            <a:r>
              <a:rPr lang="zh-CN" altLang="en-US"/>
              <a:t>和</a:t>
            </a:r>
            <a:r>
              <a:rPr lang="en-US" altLang="zh-CN"/>
              <a:t>mae (</a:t>
            </a:r>
            <a:r>
              <a:rPr lang="zh-CN" altLang="en-US"/>
              <a:t>只是</a:t>
            </a:r>
            <a:r>
              <a:rPr lang="en-US" altLang="zh-CN"/>
              <a:t>eval</a:t>
            </a:r>
            <a:r>
              <a:rPr lang="zh-CN" altLang="en-US"/>
              <a:t>的时候分别算指标，不是训练分离开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、评估源域测试数据上的</a:t>
            </a:r>
            <a:r>
              <a:rPr lang="en-US" altLang="zh-CN"/>
              <a:t>W distance</a:t>
            </a:r>
            <a:r>
              <a:rPr lang="zh-CN" altLang="en-US"/>
              <a:t>指标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、如果第二点的指标（三个变量取平均）达到了小于</a:t>
            </a:r>
            <a:r>
              <a:rPr lang="en-US" altLang="zh-CN"/>
              <a:t>0.2</a:t>
            </a:r>
            <a:r>
              <a:rPr lang="zh-CN" altLang="en-US"/>
              <a:t>，那么推进到</a:t>
            </a:r>
            <a:r>
              <a:rPr lang="en-US" altLang="zh-CN"/>
              <a:t>adapt to target domain</a:t>
            </a:r>
            <a:r>
              <a:rPr lang="zh-CN" altLang="en-US"/>
              <a:t>：这部分研究工作，需要先把谷佳熠论文中的第四章看懂（当然也包括代码）。下周一例会的时候讲讲你的理解。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ym typeface="+mn-ea"/>
              </a:rPr>
              <a:t>1</a:t>
            </a:r>
            <a:r>
              <a:rPr lang="zh-CN" altLang="en-US" sz="2400" b="1">
                <a:sym typeface="+mn-ea"/>
              </a:rPr>
              <a:t>、把</a:t>
            </a:r>
            <a:r>
              <a:rPr lang="en-US" altLang="zh-CN" sz="2400" b="1">
                <a:sym typeface="+mn-ea"/>
              </a:rPr>
              <a:t>3</a:t>
            </a:r>
            <a:r>
              <a:rPr lang="zh-CN" altLang="en-US" sz="2400" b="1">
                <a:sym typeface="+mn-ea"/>
              </a:rPr>
              <a:t>个</a:t>
            </a:r>
            <a:r>
              <a:rPr lang="en-US" altLang="zh-CN" sz="2400" b="1">
                <a:sym typeface="+mn-ea"/>
              </a:rPr>
              <a:t>target</a:t>
            </a:r>
            <a:r>
              <a:rPr lang="zh-CN" altLang="en-US" sz="2400" b="1">
                <a:sym typeface="+mn-ea"/>
              </a:rPr>
              <a:t>变量分离开，预测步数</a:t>
            </a:r>
            <a:r>
              <a:rPr lang="en-US" altLang="zh-CN" sz="2400" b="1">
                <a:sym typeface="+mn-ea"/>
              </a:rPr>
              <a:t>100</a:t>
            </a:r>
            <a:r>
              <a:rPr lang="zh-CN" altLang="en-US" sz="2400" b="1">
                <a:sym typeface="+mn-ea"/>
              </a:rPr>
              <a:t>，分别看</a:t>
            </a:r>
            <a:r>
              <a:rPr lang="en-US" altLang="zh-CN" sz="2400" b="1">
                <a:sym typeface="+mn-ea"/>
              </a:rPr>
              <a:t>mse</a:t>
            </a:r>
            <a:r>
              <a:rPr lang="zh-CN" altLang="en-US" sz="2400" b="1">
                <a:sym typeface="+mn-ea"/>
              </a:rPr>
              <a:t>和</a:t>
            </a:r>
            <a:r>
              <a:rPr lang="en-US" altLang="zh-CN" sz="2400" b="1">
                <a:sym typeface="+mn-ea"/>
              </a:rPr>
              <a:t>mae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777240" y="2054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25170" y="1715135"/>
            <a:ext cx="1061021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数据集：</a:t>
            </a:r>
            <a:r>
              <a:rPr lang="en-US" altLang="zh-CN"/>
              <a:t>100</a:t>
            </a:r>
            <a:r>
              <a:rPr lang="zh-CN" altLang="en-US"/>
              <a:t>个文件拼接，</a:t>
            </a:r>
            <a:r>
              <a:rPr lang="en-US" altLang="zh-CN"/>
              <a:t>7w</a:t>
            </a:r>
            <a:r>
              <a:rPr lang="zh-CN" altLang="en-US"/>
              <a:t>条</a:t>
            </a:r>
            <a:r>
              <a:rPr lang="zh-CN" altLang="en-US"/>
              <a:t>记录。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patchtst</a:t>
            </a:r>
            <a:r>
              <a:rPr lang="zh-CN" altLang="en-US"/>
              <a:t>版本：</a:t>
            </a:r>
            <a:r>
              <a:rPr lang="en-US" altLang="zh-CN"/>
              <a:t>self-supervised learning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源域数据集</a:t>
            </a:r>
            <a:r>
              <a:rPr lang="zh-CN" altLang="en-US">
                <a:sym typeface="+mn-ea"/>
              </a:rPr>
              <a:t>划分</a:t>
            </a:r>
            <a:r>
              <a:rPr lang="zh-CN" altLang="en-US"/>
              <a:t>：</a:t>
            </a:r>
            <a:r>
              <a:rPr lang="en-US" altLang="zh-CN"/>
              <a:t>train : test : valid = 7 : 2 : 1 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lookback window size</a:t>
            </a:r>
            <a:r>
              <a:rPr lang="zh-CN" altLang="en-US"/>
              <a:t>：</a:t>
            </a:r>
            <a:r>
              <a:rPr lang="en-US" altLang="zh-CN"/>
              <a:t>100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预测</a:t>
            </a:r>
            <a:r>
              <a:rPr lang="zh-CN" altLang="en-US"/>
              <a:t>长度：</a:t>
            </a:r>
            <a:r>
              <a:rPr lang="en-US" altLang="zh-CN"/>
              <a:t> 100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feature7, feature 8, feature 9 </a:t>
            </a:r>
            <a:r>
              <a:rPr lang="zh-CN" altLang="en-US"/>
              <a:t>同时训练，</a:t>
            </a:r>
            <a:r>
              <a:rPr lang="zh-CN" altLang="en-US"/>
              <a:t>但分别计算</a:t>
            </a:r>
            <a:r>
              <a:rPr lang="en-US" altLang="zh-CN"/>
              <a:t>mse, mae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6300" y="255270"/>
            <a:ext cx="9889490" cy="558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r>
              <a:rPr lang="en-US" altLang="zh-CN"/>
              <a:t>		 mse	 mae</a:t>
            </a:r>
            <a:endParaRPr lang="en-US" altLang="zh-CN"/>
          </a:p>
          <a:p>
            <a:r>
              <a:rPr lang="en-US" altLang="zh-CN"/>
              <a:t>score avg:	</a:t>
            </a:r>
            <a:r>
              <a:rPr lang="en-US" altLang="zh-CN" b="1"/>
              <a:t>0.1134	0.1383</a:t>
            </a:r>
            <a:endParaRPr lang="en-US" altLang="zh-CN" b="1"/>
          </a:p>
          <a:p>
            <a:endParaRPr lang="en-US" altLang="zh-CN"/>
          </a:p>
          <a:p>
            <a:r>
              <a:rPr lang="en-US" altLang="zh-CN"/>
              <a:t>feature	</a:t>
            </a:r>
            <a:r>
              <a:rPr lang="en-US"/>
              <a:t>mse</a:t>
            </a:r>
            <a:r>
              <a:rPr lang="en-US" altLang="zh-CN"/>
              <a:t>	mae	</a:t>
            </a:r>
            <a:endParaRPr lang="en-US" altLang="zh-CN"/>
          </a:p>
          <a:p>
            <a:r>
              <a:rPr lang="en-US" altLang="zh-CN"/>
              <a:t>1	0.1478	0.1057</a:t>
            </a:r>
            <a:endParaRPr lang="en-US" altLang="zh-CN"/>
          </a:p>
          <a:p>
            <a:r>
              <a:rPr lang="en-US" altLang="zh-CN"/>
              <a:t>2	0.1500	0.1504</a:t>
            </a:r>
            <a:endParaRPr lang="en-US" altLang="zh-CN"/>
          </a:p>
          <a:p>
            <a:r>
              <a:rPr lang="en-US" altLang="zh-CN"/>
              <a:t>3	0.1593	0.1357</a:t>
            </a:r>
            <a:endParaRPr lang="en-US" altLang="zh-CN"/>
          </a:p>
          <a:p>
            <a:r>
              <a:rPr lang="en-US" altLang="zh-CN"/>
              <a:t>4	0.0675	0.1909</a:t>
            </a:r>
            <a:endParaRPr lang="en-US" altLang="zh-CN"/>
          </a:p>
          <a:p>
            <a:r>
              <a:rPr lang="en-US" altLang="zh-CN"/>
              <a:t>5	0.1058	0.0993</a:t>
            </a:r>
            <a:endParaRPr lang="en-US" altLang="zh-CN"/>
          </a:p>
          <a:p>
            <a:r>
              <a:rPr lang="en-US" altLang="zh-CN" b="1"/>
              <a:t>6	0.0518	0.1598</a:t>
            </a:r>
            <a:endParaRPr lang="en-US" altLang="zh-CN" b="1"/>
          </a:p>
          <a:p>
            <a:r>
              <a:rPr lang="en-US" altLang="zh-CN" b="1"/>
              <a:t>7	0.0517	0.1597</a:t>
            </a:r>
            <a:endParaRPr lang="en-US" altLang="zh-CN" b="1"/>
          </a:p>
          <a:p>
            <a:r>
              <a:rPr lang="en-US" altLang="zh-CN" b="1"/>
              <a:t>8	0.1733	0.1046</a:t>
            </a:r>
            <a:endParaRPr lang="en-US" altLang="zh-CN" b="1"/>
          </a:p>
          <a:p>
            <a:r>
              <a:rPr lang="en-US" altLang="zh-CN" b="1"/>
              <a:t>avg789  0.0922   0.1414</a:t>
            </a:r>
            <a:endParaRPr lang="en-US" altLang="zh-CN" b="1"/>
          </a:p>
          <a:p>
            <a:r>
              <a:rPr lang="en-US" altLang="zh-CN"/>
              <a:t>===============================================================</a:t>
            </a:r>
            <a:endParaRPr lang="en-US" altLang="zh-CN"/>
          </a:p>
          <a:p>
            <a:r>
              <a:rPr lang="en-US" altLang="zh-CN"/>
              <a:t>W-distance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avg	feature1, feature2, feature3, feature4, feature5, </a:t>
            </a:r>
            <a:r>
              <a:rPr lang="en-US" altLang="zh-CN" b="1"/>
              <a:t>feature6, feature7, feature8</a:t>
            </a:r>
            <a:endParaRPr lang="zh-CN" altLang="en-US" b="1"/>
          </a:p>
          <a:p>
            <a:r>
              <a:rPr lang="en-US" altLang="zh-CN"/>
              <a:t>0.0754	0.0274,     0.0601,   0.0483,    0.1556,   0.0284,    </a:t>
            </a:r>
            <a:r>
              <a:rPr lang="en-US" altLang="zh-CN" b="1"/>
              <a:t>0.1240,    0.1239,   0.0354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avg(feature6,7,8) 0.09443</a:t>
            </a:r>
            <a:endParaRPr lang="en-US" altLang="zh-CN" b="1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035925" y="414655"/>
            <a:ext cx="37109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数据集：</a:t>
            </a:r>
            <a:r>
              <a:rPr lang="en-US" altLang="zh-CN" sz="1400">
                <a:sym typeface="+mn-ea"/>
              </a:rPr>
              <a:t>100</a:t>
            </a:r>
            <a:r>
              <a:rPr lang="zh-CN" altLang="en-US" sz="1400">
                <a:sym typeface="+mn-ea"/>
              </a:rPr>
              <a:t>个文件拼接，</a:t>
            </a:r>
            <a:r>
              <a:rPr lang="en-US" altLang="zh-CN" sz="1400">
                <a:sym typeface="+mn-ea"/>
              </a:rPr>
              <a:t>7w</a:t>
            </a:r>
            <a:r>
              <a:rPr lang="zh-CN" altLang="en-US" sz="1400">
                <a:sym typeface="+mn-ea"/>
              </a:rPr>
              <a:t>条记录。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patchtst</a:t>
            </a:r>
            <a:r>
              <a:rPr lang="zh-CN" altLang="en-US" sz="1400">
                <a:sym typeface="+mn-ea"/>
              </a:rPr>
              <a:t>版本：</a:t>
            </a:r>
            <a:r>
              <a:rPr lang="en-US" altLang="zh-CN" sz="1400">
                <a:sym typeface="+mn-ea"/>
              </a:rPr>
              <a:t>self-supervised learning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>
                <a:sym typeface="+mn-ea"/>
              </a:rPr>
              <a:t>源域数据集</a:t>
            </a:r>
            <a:r>
              <a:rPr lang="zh-CN" altLang="en-US" sz="1400">
                <a:sym typeface="+mn-ea"/>
              </a:rPr>
              <a:t>划分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train : test : valid = 7 : 2 : 1 </a:t>
            </a:r>
            <a:endParaRPr lang="en-US" altLang="zh-CN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lookback window size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100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 b="1">
                <a:sym typeface="+mn-ea"/>
              </a:rPr>
              <a:t>预测长度：</a:t>
            </a:r>
            <a:r>
              <a:rPr lang="en-US" altLang="zh-CN" sz="1400" b="1">
                <a:sym typeface="+mn-ea"/>
              </a:rPr>
              <a:t> 20</a:t>
            </a:r>
            <a:endParaRPr lang="en-US" altLang="zh-CN" sz="1400" b="1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6300" y="255270"/>
            <a:ext cx="9889490" cy="558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r>
              <a:rPr lang="en-US" altLang="zh-CN"/>
              <a:t>		 mse	 mae</a:t>
            </a:r>
            <a:endParaRPr lang="en-US" altLang="zh-CN"/>
          </a:p>
          <a:p>
            <a:r>
              <a:rPr lang="en-US" altLang="zh-CN"/>
              <a:t>score avg:	</a:t>
            </a:r>
            <a:r>
              <a:rPr lang="en-US" altLang="zh-CN" b="1"/>
              <a:t>0.4761</a:t>
            </a:r>
            <a:r>
              <a:rPr lang="en-US" altLang="zh-CN" b="1"/>
              <a:t>	0.3470</a:t>
            </a:r>
            <a:endParaRPr lang="en-US" altLang="zh-CN" b="1"/>
          </a:p>
          <a:p>
            <a:endParaRPr lang="en-US" altLang="zh-CN"/>
          </a:p>
          <a:p>
            <a:r>
              <a:rPr lang="en-US" altLang="zh-CN"/>
              <a:t>feature	</a:t>
            </a:r>
            <a:r>
              <a:rPr lang="en-US"/>
              <a:t>mse</a:t>
            </a:r>
            <a:r>
              <a:rPr lang="en-US" altLang="zh-CN"/>
              <a:t>	mae	</a:t>
            </a:r>
            <a:endParaRPr lang="en-US" altLang="zh-CN"/>
          </a:p>
          <a:p>
            <a:r>
              <a:rPr lang="en-US" altLang="zh-CN"/>
              <a:t>1	0.6409	0.3344</a:t>
            </a:r>
            <a:endParaRPr lang="en-US" altLang="zh-CN"/>
          </a:p>
          <a:p>
            <a:r>
              <a:rPr lang="en-US" altLang="zh-CN"/>
              <a:t>2	0.3546	0.3674</a:t>
            </a:r>
            <a:endParaRPr lang="en-US" altLang="zh-CN"/>
          </a:p>
          <a:p>
            <a:r>
              <a:rPr lang="en-US" altLang="zh-CN"/>
              <a:t>3	0.6773	0.4069</a:t>
            </a:r>
            <a:endParaRPr lang="en-US" altLang="zh-CN"/>
          </a:p>
          <a:p>
            <a:r>
              <a:rPr lang="en-US" altLang="zh-CN"/>
              <a:t>4	0.2301	0.3450</a:t>
            </a:r>
            <a:endParaRPr lang="en-US" altLang="zh-CN"/>
          </a:p>
          <a:p>
            <a:r>
              <a:rPr lang="en-US" altLang="zh-CN"/>
              <a:t>5	0.5050	0.3007</a:t>
            </a:r>
            <a:endParaRPr lang="en-US" altLang="zh-CN"/>
          </a:p>
          <a:p>
            <a:r>
              <a:rPr lang="en-US" altLang="zh-CN" b="1"/>
              <a:t>6	0.2898	0.3130</a:t>
            </a:r>
            <a:endParaRPr lang="en-US" altLang="zh-CN" b="1"/>
          </a:p>
          <a:p>
            <a:r>
              <a:rPr lang="en-US" altLang="zh-CN" b="1"/>
              <a:t>7	0.2895	0.3128</a:t>
            </a:r>
            <a:endParaRPr lang="en-US" altLang="zh-CN" b="1"/>
          </a:p>
          <a:p>
            <a:r>
              <a:rPr lang="en-US" altLang="zh-CN" b="1"/>
              <a:t>8	0.8217	0.3957</a:t>
            </a:r>
            <a:endParaRPr lang="en-US" altLang="zh-CN" b="1"/>
          </a:p>
          <a:p>
            <a:r>
              <a:rPr lang="en-US" altLang="zh-CN" b="1"/>
              <a:t>avg789   0.4670   0.3405</a:t>
            </a:r>
            <a:endParaRPr lang="en-US" altLang="zh-CN" b="1"/>
          </a:p>
          <a:p>
            <a:r>
              <a:rPr lang="en-US" altLang="zh-CN"/>
              <a:t>===============================================================</a:t>
            </a:r>
            <a:endParaRPr lang="en-US" altLang="zh-CN"/>
          </a:p>
          <a:p>
            <a:r>
              <a:rPr lang="en-US" altLang="zh-CN"/>
              <a:t>W-distance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avg	feature1, feature2, feature3, feature4, feature5, </a:t>
            </a:r>
            <a:r>
              <a:rPr lang="en-US" altLang="zh-CN" b="1"/>
              <a:t>feature6, feature7, feature8</a:t>
            </a:r>
            <a:endParaRPr lang="zh-CN" altLang="en-US" b="1"/>
          </a:p>
          <a:p>
            <a:r>
              <a:rPr lang="en-US" altLang="zh-CN"/>
              <a:t>0.1047	 0.0992,   0.0906,    0.0627,    0.1190,    0.1085,   </a:t>
            </a:r>
            <a:r>
              <a:rPr lang="en-US" altLang="zh-CN" b="1"/>
              <a:t>0.1490,    0.1489,   0.0594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avg(feature6,7,8) 0.1191</a:t>
            </a:r>
            <a:endParaRPr lang="en-US" altLang="zh-CN" b="1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035925" y="414655"/>
            <a:ext cx="37109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数据集：</a:t>
            </a:r>
            <a:r>
              <a:rPr lang="en-US" altLang="zh-CN" sz="1400">
                <a:sym typeface="+mn-ea"/>
              </a:rPr>
              <a:t>100</a:t>
            </a:r>
            <a:r>
              <a:rPr lang="zh-CN" altLang="en-US" sz="1400">
                <a:sym typeface="+mn-ea"/>
              </a:rPr>
              <a:t>个文件拼接，</a:t>
            </a:r>
            <a:r>
              <a:rPr lang="en-US" altLang="zh-CN" sz="1400">
                <a:sym typeface="+mn-ea"/>
              </a:rPr>
              <a:t>7w</a:t>
            </a:r>
            <a:r>
              <a:rPr lang="zh-CN" altLang="en-US" sz="1400">
                <a:sym typeface="+mn-ea"/>
              </a:rPr>
              <a:t>条记录。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patchtst</a:t>
            </a:r>
            <a:r>
              <a:rPr lang="zh-CN" altLang="en-US" sz="1400">
                <a:sym typeface="+mn-ea"/>
              </a:rPr>
              <a:t>版本：</a:t>
            </a:r>
            <a:r>
              <a:rPr lang="en-US" altLang="zh-CN" sz="1400">
                <a:sym typeface="+mn-ea"/>
              </a:rPr>
              <a:t>self-supervised learning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>
                <a:sym typeface="+mn-ea"/>
              </a:rPr>
              <a:t>源域数据集</a:t>
            </a:r>
            <a:r>
              <a:rPr lang="zh-CN" altLang="en-US" sz="1400">
                <a:sym typeface="+mn-ea"/>
              </a:rPr>
              <a:t>划分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train : test : valid = 7 : 2 : 1 </a:t>
            </a:r>
            <a:endParaRPr lang="en-US" altLang="zh-CN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lookback window size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100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 b="1">
                <a:sym typeface="+mn-ea"/>
              </a:rPr>
              <a:t>预测长度：</a:t>
            </a:r>
            <a:r>
              <a:rPr lang="en-US" altLang="zh-CN" sz="1400" b="1">
                <a:sym typeface="+mn-ea"/>
              </a:rPr>
              <a:t> 100</a:t>
            </a:r>
            <a:endParaRPr lang="en-US" altLang="zh-CN" sz="1400" b="1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6300" y="255270"/>
            <a:ext cx="9889490" cy="558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r>
              <a:rPr lang="en-US" altLang="zh-CN"/>
              <a:t>		 mse	 mae</a:t>
            </a:r>
            <a:endParaRPr lang="en-US" altLang="zh-CN"/>
          </a:p>
          <a:p>
            <a:r>
              <a:rPr lang="en-US" altLang="zh-CN"/>
              <a:t>score avg:	</a:t>
            </a:r>
            <a:r>
              <a:rPr lang="en-US" altLang="zh-CN" b="1"/>
              <a:t>0.4100</a:t>
            </a:r>
            <a:r>
              <a:rPr lang="en-US" altLang="zh-CN" b="1"/>
              <a:t>	0.3672</a:t>
            </a:r>
            <a:endParaRPr lang="en-US" altLang="zh-CN" b="1"/>
          </a:p>
          <a:p>
            <a:endParaRPr lang="en-US" altLang="zh-CN"/>
          </a:p>
          <a:p>
            <a:r>
              <a:rPr lang="en-US" altLang="zh-CN"/>
              <a:t>feature	</a:t>
            </a:r>
            <a:r>
              <a:rPr lang="en-US"/>
              <a:t>mse</a:t>
            </a:r>
            <a:r>
              <a:rPr lang="en-US" altLang="zh-CN"/>
              <a:t>	mae	</a:t>
            </a:r>
            <a:endParaRPr lang="en-US" altLang="zh-CN"/>
          </a:p>
          <a:p>
            <a:r>
              <a:rPr lang="en-US" altLang="zh-CN"/>
              <a:t>1	0.2818	0.2238</a:t>
            </a:r>
            <a:endParaRPr lang="en-US" altLang="zh-CN"/>
          </a:p>
          <a:p>
            <a:r>
              <a:rPr lang="en-US" altLang="zh-CN"/>
              <a:t>2	0.5625	0.4362</a:t>
            </a:r>
            <a:endParaRPr lang="en-US" altLang="zh-CN"/>
          </a:p>
          <a:p>
            <a:r>
              <a:rPr lang="en-US" altLang="zh-CN"/>
              <a:t>3	0.5415	0.4689</a:t>
            </a:r>
            <a:endParaRPr lang="en-US" altLang="zh-CN"/>
          </a:p>
          <a:p>
            <a:r>
              <a:rPr lang="en-US" altLang="zh-CN"/>
              <a:t>4	0.4244	0.4511</a:t>
            </a:r>
            <a:endParaRPr lang="en-US" altLang="zh-CN"/>
          </a:p>
          <a:p>
            <a:r>
              <a:rPr lang="en-US" altLang="zh-CN"/>
              <a:t>5	0.0812	0.1840</a:t>
            </a:r>
            <a:endParaRPr lang="en-US" altLang="zh-CN"/>
          </a:p>
          <a:p>
            <a:r>
              <a:rPr lang="en-US" altLang="zh-CN" b="1"/>
              <a:t>6	0.4635	0.3990</a:t>
            </a:r>
            <a:endParaRPr lang="en-US" altLang="zh-CN" b="1"/>
          </a:p>
          <a:p>
            <a:r>
              <a:rPr lang="en-US" altLang="zh-CN" b="1"/>
              <a:t>7	0.4635	0.3990</a:t>
            </a:r>
            <a:endParaRPr lang="en-US" altLang="zh-CN" b="1"/>
          </a:p>
          <a:p>
            <a:r>
              <a:rPr lang="en-US" altLang="zh-CN" b="1"/>
              <a:t>8	0.4619	0.3758</a:t>
            </a:r>
            <a:endParaRPr lang="en-US" altLang="zh-CN" b="1"/>
          </a:p>
          <a:p>
            <a:r>
              <a:rPr lang="en-US" altLang="zh-CN"/>
              <a:t>===============================================================</a:t>
            </a:r>
            <a:endParaRPr lang="en-US" altLang="zh-CN"/>
          </a:p>
          <a:p>
            <a:r>
              <a:rPr lang="en-US" altLang="zh-CN"/>
              <a:t>W-distance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avg	feature1, feature2, feature3, feature4, feature5, </a:t>
            </a:r>
            <a:r>
              <a:rPr lang="en-US" altLang="zh-CN" b="1"/>
              <a:t>feature6, feature7, feature8</a:t>
            </a:r>
            <a:endParaRPr lang="zh-CN" altLang="en-US" b="1"/>
          </a:p>
          <a:p>
            <a:r>
              <a:rPr lang="en-US" altLang="zh-CN"/>
              <a:t>0.1169	 0.0561,    0.1327,   0.1618,    0.1703,    0.0664,    </a:t>
            </a:r>
            <a:r>
              <a:rPr lang="en-US" altLang="zh-CN" b="1"/>
              <a:t>0.1343,    0.1343,   0.0791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avg(feature6,7,8) 0.1159</a:t>
            </a:r>
            <a:endParaRPr lang="en-US" altLang="zh-CN" b="1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62115" y="414655"/>
            <a:ext cx="498475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数据集：</a:t>
            </a:r>
            <a:r>
              <a:rPr lang="en-US" altLang="zh-CN" sz="1400">
                <a:sym typeface="+mn-ea"/>
              </a:rPr>
              <a:t>100</a:t>
            </a:r>
            <a:r>
              <a:rPr lang="zh-CN" altLang="en-US" sz="1400">
                <a:sym typeface="+mn-ea"/>
              </a:rPr>
              <a:t>个文件拼接，</a:t>
            </a:r>
            <a:r>
              <a:rPr lang="en-US" altLang="zh-CN" sz="1400">
                <a:sym typeface="+mn-ea"/>
              </a:rPr>
              <a:t>7w</a:t>
            </a:r>
            <a:r>
              <a:rPr lang="zh-CN" altLang="en-US" sz="1400">
                <a:sym typeface="+mn-ea"/>
              </a:rPr>
              <a:t>条记录。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patchtst</a:t>
            </a:r>
            <a:r>
              <a:rPr lang="zh-CN" altLang="en-US" sz="1400">
                <a:sym typeface="+mn-ea"/>
              </a:rPr>
              <a:t>版本：</a:t>
            </a:r>
            <a:r>
              <a:rPr lang="en-US" altLang="zh-CN" sz="1400">
                <a:sym typeface="+mn-ea"/>
              </a:rPr>
              <a:t>self-supervised learning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>
                <a:sym typeface="+mn-ea"/>
              </a:rPr>
              <a:t>源域数据集</a:t>
            </a:r>
            <a:r>
              <a:rPr lang="zh-CN" altLang="en-US" sz="1400">
                <a:sym typeface="+mn-ea"/>
              </a:rPr>
              <a:t>划分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train : test : valid = 7 : 2 : 1 </a:t>
            </a:r>
            <a:endParaRPr lang="en-US" altLang="zh-CN" sz="1400"/>
          </a:p>
          <a:p>
            <a:endParaRPr lang="zh-CN" altLang="en-US" sz="1400"/>
          </a:p>
          <a:p>
            <a:r>
              <a:rPr lang="en-US" altLang="zh-CN" sz="1400">
                <a:sym typeface="+mn-ea"/>
              </a:rPr>
              <a:t>lookback window size</a:t>
            </a:r>
            <a:r>
              <a:rPr lang="zh-CN" altLang="en-US" sz="1400">
                <a:sym typeface="+mn-ea"/>
              </a:rPr>
              <a:t>：</a:t>
            </a:r>
            <a:r>
              <a:rPr lang="en-US" altLang="zh-CN" sz="1400">
                <a:sym typeface="+mn-ea"/>
              </a:rPr>
              <a:t>100</a:t>
            </a:r>
            <a:endParaRPr lang="en-US" altLang="zh-CN" sz="1400">
              <a:sym typeface="+mn-ea"/>
            </a:endParaRPr>
          </a:p>
          <a:p>
            <a:endParaRPr lang="en-US" altLang="zh-CN" sz="1400">
              <a:sym typeface="+mn-ea"/>
            </a:endParaRPr>
          </a:p>
          <a:p>
            <a:r>
              <a:rPr lang="zh-CN" altLang="en-US" sz="1400" b="1"/>
              <a:t>预测长度设置为</a:t>
            </a:r>
            <a:r>
              <a:rPr lang="en-US" altLang="zh-CN" sz="1400" b="1"/>
              <a:t>20</a:t>
            </a:r>
            <a:r>
              <a:rPr lang="zh-CN" altLang="en-US" sz="1400" b="1"/>
              <a:t>，</a:t>
            </a:r>
            <a:r>
              <a:rPr lang="en-US" altLang="zh-CN" sz="1400" b="1"/>
              <a:t>  </a:t>
            </a:r>
            <a:r>
              <a:rPr lang="zh-CN" altLang="en-US" sz="1400" b="1"/>
              <a:t>在源域</a:t>
            </a:r>
            <a:r>
              <a:rPr lang="en-US" altLang="zh-CN" sz="1400" b="1"/>
              <a:t>7w</a:t>
            </a:r>
            <a:r>
              <a:rPr lang="zh-CN" altLang="en-US" sz="1400" b="1"/>
              <a:t>条</a:t>
            </a:r>
            <a:r>
              <a:rPr lang="zh-CN" altLang="en-US" sz="1400" b="1"/>
              <a:t>记录上进行</a:t>
            </a:r>
            <a:r>
              <a:rPr lang="en-US" altLang="zh-CN" sz="1400" b="1"/>
              <a:t>pre-training</a:t>
            </a:r>
            <a:endParaRPr lang="en-US" altLang="zh-CN" sz="1400" b="1"/>
          </a:p>
          <a:p>
            <a:endParaRPr lang="en-US" altLang="zh-CN" sz="1400"/>
          </a:p>
          <a:p>
            <a:r>
              <a:rPr lang="zh-CN" altLang="en-US" sz="1400" b="1">
                <a:sym typeface="+mn-ea"/>
              </a:rPr>
              <a:t>预测长度设置为</a:t>
            </a:r>
            <a:r>
              <a:rPr lang="en-US" altLang="zh-CN" sz="1400" b="1">
                <a:sym typeface="+mn-ea"/>
              </a:rPr>
              <a:t>100</a:t>
            </a:r>
            <a:r>
              <a:rPr lang="zh-CN" altLang="en-US" sz="1400" b="1">
                <a:sym typeface="+mn-ea"/>
              </a:rPr>
              <a:t>，在目标域</a:t>
            </a:r>
            <a:r>
              <a:rPr lang="en-US" altLang="zh-CN" sz="1400" b="1">
                <a:sym typeface="+mn-ea"/>
              </a:rPr>
              <a:t>5k</a:t>
            </a:r>
            <a:r>
              <a:rPr lang="zh-CN" altLang="en-US" sz="1400" b="1">
                <a:sym typeface="+mn-ea"/>
              </a:rPr>
              <a:t>条</a:t>
            </a:r>
            <a:r>
              <a:rPr lang="zh-CN" altLang="en-US" sz="1400" b="1">
                <a:sym typeface="+mn-ea"/>
              </a:rPr>
              <a:t>记录上进行</a:t>
            </a:r>
            <a:r>
              <a:rPr lang="en-US" altLang="zh-CN" sz="1400" b="1">
                <a:sym typeface="+mn-ea"/>
              </a:rPr>
              <a:t>f</a:t>
            </a:r>
            <a:r>
              <a:rPr lang="en-US" altLang="zh-CN" sz="1400" b="1">
                <a:sym typeface="+mn-ea"/>
              </a:rPr>
              <a:t>ine-tuning</a:t>
            </a:r>
            <a:endParaRPr lang="en-US" altLang="zh-CN" sz="1400" b="1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2</a:t>
            </a:r>
            <a:r>
              <a:rPr lang="zh-CN" altLang="en-US" sz="2400" b="1"/>
              <a:t>、</a:t>
            </a:r>
            <a:r>
              <a:rPr lang="en-US" altLang="zh-CN" sz="2400" b="1"/>
              <a:t>RevIn</a:t>
            </a:r>
            <a:r>
              <a:rPr lang="zh-CN" altLang="en-US" sz="2400" b="1"/>
              <a:t>正则化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en-US" altLang="zh-CN" b="1"/>
              <a:t>Reversible Instance Normalization </a:t>
            </a:r>
            <a:r>
              <a:rPr lang="zh-CN" altLang="en-US" b="1"/>
              <a:t>可逆</a:t>
            </a:r>
            <a:r>
              <a:rPr lang="zh-CN" altLang="en-US" b="1"/>
              <a:t>正则化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https://zhuanlan.zhihu.com/p/473553126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777240" y="2054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7415" y="48895"/>
            <a:ext cx="5965825" cy="665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、数据集现存</a:t>
            </a:r>
            <a:r>
              <a:rPr lang="zh-CN" altLang="en-US" sz="2400" b="1"/>
              <a:t>问题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/>
              <a:t>从</a:t>
            </a:r>
            <a:r>
              <a:rPr lang="en-US" altLang="zh-CN">
                <a:sym typeface="+mn-ea"/>
              </a:rPr>
              <a:t>PatchTST</a:t>
            </a:r>
            <a:r>
              <a:rPr lang="zh-CN" altLang="en-US" sz="2400" b="1"/>
              <a:t>项目源代码</a:t>
            </a:r>
            <a:r>
              <a:rPr lang="zh-CN" altLang="en-US"/>
              <a:t>和</a:t>
            </a:r>
            <a:r>
              <a:rPr lang="zh-CN" altLang="en-US" sz="2400" b="1"/>
              <a:t>官方案例</a:t>
            </a:r>
            <a:r>
              <a:rPr lang="zh-CN" altLang="en-US"/>
              <a:t>来看，数据集是需要一个以时间为序的标准轴。</a:t>
            </a:r>
            <a:endParaRPr lang="zh-CN" altLang="en-US" b="1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777240" y="2054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2054860"/>
            <a:ext cx="5594985" cy="636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385"/>
            <a:ext cx="6164580" cy="2806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777240" y="2054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61695" y="1901825"/>
            <a:ext cx="0" cy="105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61695" y="2947035"/>
            <a:ext cx="9404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36600" y="301688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0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675765" y="3016885"/>
            <a:ext cx="4889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</a:t>
            </a:r>
            <a:endParaRPr lang="en-US" altLang="zh-CN" sz="900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918210" y="1967865"/>
            <a:ext cx="757555" cy="922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500630" y="1901825"/>
            <a:ext cx="0" cy="105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500630" y="2947035"/>
            <a:ext cx="9404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314700" y="3016885"/>
            <a:ext cx="4889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</a:t>
            </a:r>
            <a:endParaRPr lang="en-US" altLang="zh-CN" sz="900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2557145" y="2263775"/>
            <a:ext cx="803275" cy="626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06875" y="1922145"/>
            <a:ext cx="0" cy="105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206875" y="2967355"/>
            <a:ext cx="9404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020945" y="3037205"/>
            <a:ext cx="4889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</a:t>
            </a:r>
            <a:endParaRPr lang="en-US" altLang="zh-CN" sz="900"/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316095" y="1967230"/>
            <a:ext cx="543560" cy="719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836920" y="1876425"/>
            <a:ext cx="0" cy="105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836920" y="2921635"/>
            <a:ext cx="9404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650990" y="2991485"/>
            <a:ext cx="4889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</a:t>
            </a:r>
            <a:endParaRPr lang="en-US" altLang="zh-CN" sz="900"/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5952490" y="1942465"/>
            <a:ext cx="698500" cy="502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176510" y="1806575"/>
            <a:ext cx="0" cy="105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0176510" y="2851785"/>
            <a:ext cx="9404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0990580" y="2921635"/>
            <a:ext cx="4889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</a:t>
            </a:r>
            <a:endParaRPr lang="en-US" altLang="zh-CN" sz="900"/>
          </a:p>
        </p:txBody>
      </p:sp>
      <p:cxnSp>
        <p:nvCxnSpPr>
          <p:cNvPr id="36" name="直接连接符 35"/>
          <p:cNvCxnSpPr/>
          <p:nvPr/>
        </p:nvCxnSpPr>
        <p:spPr>
          <a:xfrm flipV="1">
            <a:off x="10233025" y="1872615"/>
            <a:ext cx="757555" cy="922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>
            <a:off x="7945120" y="2324735"/>
            <a:ext cx="131445" cy="13144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244840" y="2319655"/>
            <a:ext cx="131445" cy="13144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8549640" y="2314575"/>
            <a:ext cx="131445" cy="13144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下箭头 39"/>
          <p:cNvSpPr/>
          <p:nvPr/>
        </p:nvSpPr>
        <p:spPr>
          <a:xfrm>
            <a:off x="5755005" y="3417570"/>
            <a:ext cx="439420" cy="103759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839470" y="5053965"/>
            <a:ext cx="0" cy="1148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39470" y="6202045"/>
            <a:ext cx="10560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905510" y="5186045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1713230" y="5537200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2500630" y="5608320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074670" y="5191125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3900805" y="5564505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10347960" y="5224780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7276465" y="5537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6600825" y="3829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直接堆叠在</a:t>
            </a:r>
            <a:r>
              <a:rPr lang="zh-CN" altLang="en-US"/>
              <a:t>一起</a:t>
            </a: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795655" y="631253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0</a:t>
            </a:r>
            <a:endParaRPr lang="en-US" altLang="zh-CN" sz="900"/>
          </a:p>
        </p:txBody>
      </p:sp>
      <p:sp>
        <p:nvSpPr>
          <p:cNvPr id="64" name="文本框 63"/>
          <p:cNvSpPr txBox="1"/>
          <p:nvPr/>
        </p:nvSpPr>
        <p:spPr>
          <a:xfrm>
            <a:off x="10727055" y="6312535"/>
            <a:ext cx="8832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70000</a:t>
            </a:r>
            <a:endParaRPr lang="en-US" altLang="zh-CN" sz="900"/>
          </a:p>
        </p:txBody>
      </p:sp>
      <p:sp>
        <p:nvSpPr>
          <p:cNvPr id="65" name="文本框 64"/>
          <p:cNvSpPr txBox="1"/>
          <p:nvPr/>
        </p:nvSpPr>
        <p:spPr>
          <a:xfrm>
            <a:off x="1083310" y="346075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text1</a:t>
            </a:r>
            <a:endParaRPr lang="en-US" altLang="zh-CN" sz="1400"/>
          </a:p>
        </p:txBody>
      </p:sp>
      <p:sp>
        <p:nvSpPr>
          <p:cNvPr id="66" name="文本框 65"/>
          <p:cNvSpPr txBox="1"/>
          <p:nvPr/>
        </p:nvSpPr>
        <p:spPr>
          <a:xfrm>
            <a:off x="2756535" y="346583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text2</a:t>
            </a:r>
            <a:endParaRPr lang="en-US" altLang="zh-CN" sz="1400"/>
          </a:p>
          <a:p>
            <a:endParaRPr lang="zh-CN" altLang="en-US" sz="1400"/>
          </a:p>
        </p:txBody>
      </p:sp>
      <p:sp>
        <p:nvSpPr>
          <p:cNvPr id="67" name="文本框 66"/>
          <p:cNvSpPr txBox="1"/>
          <p:nvPr/>
        </p:nvSpPr>
        <p:spPr>
          <a:xfrm>
            <a:off x="4359910" y="3465830"/>
            <a:ext cx="4064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text3</a:t>
            </a:r>
            <a:endParaRPr lang="en-US" altLang="zh-CN" sz="1400"/>
          </a:p>
          <a:p>
            <a:endParaRPr lang="zh-CN" altLang="en-US" sz="1400"/>
          </a:p>
          <a:p>
            <a:endParaRPr lang="zh-CN" altLang="en-US" sz="1400"/>
          </a:p>
        </p:txBody>
      </p:sp>
      <p:sp>
        <p:nvSpPr>
          <p:cNvPr id="68" name="文本框 67"/>
          <p:cNvSpPr txBox="1"/>
          <p:nvPr/>
        </p:nvSpPr>
        <p:spPr>
          <a:xfrm>
            <a:off x="10176510" y="3417570"/>
            <a:ext cx="10223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text15000</a:t>
            </a:r>
            <a:endParaRPr lang="en-US" altLang="zh-CN" sz="1400"/>
          </a:p>
          <a:p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sp>
        <p:nvSpPr>
          <p:cNvPr id="40" name="下箭头 39"/>
          <p:cNvSpPr/>
          <p:nvPr/>
        </p:nvSpPr>
        <p:spPr>
          <a:xfrm>
            <a:off x="5755005" y="2769235"/>
            <a:ext cx="439420" cy="103759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905510" y="1489710"/>
            <a:ext cx="0" cy="1148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05510" y="2637790"/>
            <a:ext cx="10560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971550" y="1621790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1779270" y="1972945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2566670" y="2044065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140710" y="1626870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3966845" y="2000250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1"/>
            </p:custDataLst>
          </p:nvPr>
        </p:nvCxnSpPr>
        <p:spPr>
          <a:xfrm flipV="1">
            <a:off x="10414000" y="1660525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2"/>
            </p:custDataLst>
          </p:nvPr>
        </p:nvSpPr>
        <p:spPr>
          <a:xfrm>
            <a:off x="7342505" y="197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05510" y="4115435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05510" y="5263515"/>
            <a:ext cx="10560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938530" y="5609590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740535" y="4966970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575560" y="4373245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188335" y="3653790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3990340" y="3025775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7342505" y="4598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396990" y="3025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添加平移</a:t>
            </a:r>
            <a:r>
              <a:rPr lang="en-US" altLang="zh-CN"/>
              <a:t>bias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cxnSp>
        <p:nvCxnSpPr>
          <p:cNvPr id="7" name="直接连接符 6"/>
          <p:cNvCxnSpPr/>
          <p:nvPr/>
        </p:nvCxnSpPr>
        <p:spPr>
          <a:xfrm>
            <a:off x="859790" y="4152900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59790" y="5132070"/>
            <a:ext cx="4516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938530" y="5478145"/>
            <a:ext cx="723265" cy="328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694815" y="5174615"/>
            <a:ext cx="836295" cy="287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568575" y="4823460"/>
            <a:ext cx="687705" cy="266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90570" y="4471670"/>
            <a:ext cx="805815" cy="31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4185920" y="4152900"/>
            <a:ext cx="827405" cy="31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下箭头 2"/>
          <p:cNvSpPr/>
          <p:nvPr/>
        </p:nvSpPr>
        <p:spPr>
          <a:xfrm>
            <a:off x="5610860" y="2691130"/>
            <a:ext cx="439420" cy="103759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59790" y="1489710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59790" y="2637790"/>
            <a:ext cx="105606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892810" y="2983865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694815" y="2341245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529840" y="1747520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3142615" y="1028065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3944620" y="400050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209030" y="3025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缩放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cxnSp>
        <p:nvCxnSpPr>
          <p:cNvPr id="7" name="直接连接符 6"/>
          <p:cNvCxnSpPr/>
          <p:nvPr/>
        </p:nvCxnSpPr>
        <p:spPr>
          <a:xfrm>
            <a:off x="859790" y="2381885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59790" y="3361055"/>
            <a:ext cx="4516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938530" y="3707130"/>
            <a:ext cx="723265" cy="328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694815" y="3403600"/>
            <a:ext cx="836295" cy="287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568575" y="3052445"/>
            <a:ext cx="687705" cy="266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90570" y="2700655"/>
            <a:ext cx="805815" cy="31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4185920" y="2381885"/>
            <a:ext cx="827405" cy="31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右箭头 17"/>
          <p:cNvSpPr/>
          <p:nvPr/>
        </p:nvSpPr>
        <p:spPr>
          <a:xfrm>
            <a:off x="5535295" y="3116580"/>
            <a:ext cx="1510665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909310" y="3769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预测</a:t>
            </a: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7205345" y="2245360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205345" y="3224530"/>
            <a:ext cx="4516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7284085" y="3570605"/>
            <a:ext cx="723265" cy="328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8040370" y="3267075"/>
            <a:ext cx="836295" cy="287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8914130" y="2915920"/>
            <a:ext cx="687705" cy="266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9636125" y="2564130"/>
            <a:ext cx="805815" cy="31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0531475" y="2245360"/>
            <a:ext cx="827405" cy="31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11400790" y="1731010"/>
            <a:ext cx="609600" cy="439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cxnSp>
        <p:nvCxnSpPr>
          <p:cNvPr id="21" name="直接连接符 20"/>
          <p:cNvCxnSpPr/>
          <p:nvPr/>
        </p:nvCxnSpPr>
        <p:spPr>
          <a:xfrm>
            <a:off x="774700" y="2382520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74700" y="3361690"/>
            <a:ext cx="4516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53440" y="3707765"/>
            <a:ext cx="723265" cy="328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1609725" y="3404235"/>
            <a:ext cx="836295" cy="287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485" y="3053080"/>
            <a:ext cx="687705" cy="266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3205480" y="2701290"/>
            <a:ext cx="805815" cy="3143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4100830" y="2382520"/>
            <a:ext cx="827405" cy="318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970145" y="1868170"/>
            <a:ext cx="609600" cy="439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7061835" y="3796665"/>
            <a:ext cx="5036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右箭头 3"/>
          <p:cNvSpPr/>
          <p:nvPr/>
        </p:nvSpPr>
        <p:spPr>
          <a:xfrm>
            <a:off x="5448300" y="3159125"/>
            <a:ext cx="1296035" cy="4394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40375" y="3835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还原</a:t>
            </a:r>
            <a:endParaRPr lang="en-US" altLang="zh-CN"/>
          </a:p>
        </p:txBody>
      </p:sp>
      <p:cxnSp>
        <p:nvCxnSpPr>
          <p:cNvPr id="7" name="直接连接符 6"/>
          <p:cNvCxnSpPr/>
          <p:nvPr/>
        </p:nvCxnSpPr>
        <p:spPr>
          <a:xfrm>
            <a:off x="7067550" y="2201545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7100570" y="3695700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7902575" y="3053080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8737600" y="2459355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9350375" y="1739900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10152380" y="1111885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11105515" y="622300"/>
            <a:ext cx="609600" cy="439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58800"/>
            <a:ext cx="1333500" cy="0"/>
          </a:xfrm>
          <a:prstGeom prst="line">
            <a:avLst/>
          </a:prstGeom>
          <a:ln w="19050">
            <a:solidFill>
              <a:srgbClr val="94D2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1500" y="252968"/>
            <a:ext cx="204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pc="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TJBT</a:t>
            </a:r>
            <a:endParaRPr lang="zh-CN" altLang="en-US" spc="600" dirty="0">
              <a:solidFill>
                <a:schemeClr val="bg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195" y="866140"/>
            <a:ext cx="10716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</a:t>
            </a:r>
            <a:r>
              <a:rPr lang="zh-CN" altLang="en-US" sz="2400" b="1"/>
              <a:t>、数据集</a:t>
            </a:r>
            <a:r>
              <a:rPr lang="zh-CN" altLang="en-US" sz="2400" b="1"/>
              <a:t>处理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b="1"/>
          </a:p>
          <a:p>
            <a:endParaRPr lang="zh-CN" altLang="en-US" b="1"/>
          </a:p>
        </p:txBody>
      </p:sp>
      <p:cxnSp>
        <p:nvCxnSpPr>
          <p:cNvPr id="42" name="直接连接符 41"/>
          <p:cNvCxnSpPr/>
          <p:nvPr/>
        </p:nvCxnSpPr>
        <p:spPr>
          <a:xfrm>
            <a:off x="828675" y="4483100"/>
            <a:ext cx="5036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28675" y="3241675"/>
            <a:ext cx="0" cy="232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861695" y="4735830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663700" y="4093210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498725" y="3499485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111500" y="2780030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3913505" y="2152015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4866640" y="1662430"/>
            <a:ext cx="609600" cy="439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061835" y="2648585"/>
            <a:ext cx="0" cy="1148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7127875" y="2780665"/>
            <a:ext cx="768985" cy="9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7935595" y="3131820"/>
            <a:ext cx="796290" cy="626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8722995" y="3202940"/>
            <a:ext cx="574040" cy="59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9297035" y="2785745"/>
            <a:ext cx="763270" cy="753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10123170" y="3159125"/>
            <a:ext cx="920750" cy="637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11150600" y="3318510"/>
            <a:ext cx="609600" cy="439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右箭头 9"/>
          <p:cNvSpPr/>
          <p:nvPr/>
        </p:nvSpPr>
        <p:spPr>
          <a:xfrm>
            <a:off x="5448300" y="3159125"/>
            <a:ext cx="1296035" cy="4394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40375" y="3835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还原，减</a:t>
            </a:r>
            <a:r>
              <a:rPr lang="en-US" altLang="zh-CN"/>
              <a:t>bias</a:t>
            </a:r>
            <a:endParaRPr lang="en-US" altLang="zh-CN"/>
          </a:p>
        </p:txBody>
      </p:sp>
      <p:cxnSp>
        <p:nvCxnSpPr>
          <p:cNvPr id="12" name="直接连接符 11"/>
          <p:cNvCxnSpPr/>
          <p:nvPr/>
        </p:nvCxnSpPr>
        <p:spPr>
          <a:xfrm>
            <a:off x="7061835" y="3796665"/>
            <a:ext cx="5036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3.7,&quot;left&quot;:578.15,&quot;top&quot;:130.75,&quot;width&quot;:320}"/>
</p:tagLst>
</file>

<file path=ppt/tags/tag2.xml><?xml version="1.0" encoding="utf-8"?>
<p:tagLst xmlns:p="http://schemas.openxmlformats.org/presentationml/2006/main">
  <p:tag name="KSO_WM_DIAGRAM_VIRTUALLY_FRAME" val="{&quot;height&quot;:283.7,&quot;left&quot;:578.15,&quot;top&quot;:130.75,&quot;width&quot;:320}"/>
</p:tagLst>
</file>

<file path=ppt/tags/tag3.xml><?xml version="1.0" encoding="utf-8"?>
<p:tagLst xmlns:p="http://schemas.openxmlformats.org/presentationml/2006/main">
  <p:tag name="KSO_WM_DIAGRAM_VIRTUALLY_FRAME" val="{&quot;height&quot;:283.7,&quot;left&quot;:578.15,&quot;top&quot;:130.75,&quot;width&quot;:32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2522</Words>
  <Application>WPS 演示</Application>
  <PresentationFormat>宽屏</PresentationFormat>
  <Paragraphs>231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阿里巴巴普惠体 B</vt:lpstr>
      <vt:lpstr>Bahnschrift SemiCondensed</vt:lpstr>
      <vt:lpstr>阿里巴巴普惠体 R</vt:lpstr>
      <vt:lpstr>Aharoni</vt:lpstr>
      <vt:lpstr>Yu Gothic UI Semibold</vt:lpstr>
      <vt:lpstr>等线</vt:lpstr>
      <vt:lpstr>Roboto Light</vt:lpstr>
      <vt:lpstr>Segoe Print</vt:lpstr>
      <vt:lpstr>Roboto Bold</vt:lpstr>
      <vt:lpstr>微软雅黑</vt:lpstr>
      <vt:lpstr>Arial Unicode MS</vt:lpstr>
      <vt:lpstr>等线 Light</vt:lpstr>
      <vt:lpstr>Calibri</vt:lpstr>
      <vt:lpstr>PingFang SC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振兴</dc:creator>
  <cp:lastModifiedBy>路</cp:lastModifiedBy>
  <cp:revision>28</cp:revision>
  <dcterms:created xsi:type="dcterms:W3CDTF">2020-02-22T10:39:00Z</dcterms:created>
  <dcterms:modified xsi:type="dcterms:W3CDTF">2025-05-19T10:28:20Z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9AD4032C81FE4120BF764A68BA1D58BD_11</vt:lpwstr>
  </property>
  <property fmtid="{D5CDD505-2E9C-101B-9397-08002B2CF9AE}" pid="3" name="KSOProductBuildVer">
    <vt:lpwstr>2052-12.1.0.21171</vt:lpwstr>
  </property>
  <property fmtid="{D5CDD505-2E9C-101B-9397-08002B2CF9AE}" pid="4" name="KSOTemplateUUID">
    <vt:lpwstr>v1.0_mb_b9SCMW4SDOx7JT5ho52Wbg==</vt:lpwstr>
  </property>
</Properties>
</file>